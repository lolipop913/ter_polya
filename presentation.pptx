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0" d="100"/>
          <a:sy n="70" d="100"/>
        </p:scale>
        <p:origin x="130" y="-3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20040"/>
            <a:ext cx="2743200" cy="9426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5F6973"/>
                </a:solidFill>
                <a:latin typeface="Aptos"/>
              </a:rPr>
              <a:t>TER de recherche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7223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latin typeface="Aptos"/>
              </a:rPr>
              <a:t>Urnes de Pólya généralisées</a:t>
            </a:r>
          </a:p>
          <a:p>
            <a:r>
              <a:rPr sz="3000" b="1">
                <a:latin typeface="Aptos"/>
              </a:rPr>
              <a:t>Domination permanente et simulations</a:t>
            </a:r>
          </a:p>
          <a:p>
            <a:r>
              <a:rPr sz="3000" b="1">
                <a:latin typeface="Aptos"/>
              </a:rPr>
              <a:t>à horizon fini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34340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latin typeface="Aptos"/>
              </a:rPr>
              <a:t>Henri Vasserot — Master Mathématiques EAD · AMU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754880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TER encadré par Grégory Maillard · 2025/2026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2636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Cadre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/>
              <a:t>Urnes de Pólya généralisées : cadre du problème</a:t>
            </a:r>
            <a:endParaRPr lang="fr-FR" sz="2800" dirty="0"/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Un modèle simple de renforcement, une propriété globale dans le temps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5120640" cy="411480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636776"/>
            <a:ext cx="47914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Idée du modèle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1005840" y="1965960"/>
                <a:ext cx="4572000" cy="23698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  <a:defRPr sz="1900">
                    <a:solidFill>
                      <a:srgbClr val="232D37"/>
                    </a:solidFill>
                    <a:latin typeface="Aptos"/>
                  </a:defRPr>
                </a:pPr>
                <a:r>
                  <a:rPr lang="fr-FR" sz="1900" dirty="0"/>
                  <a:t>À l'instant </a:t>
                </a:r>
                <a14:m>
                  <m:oMath xmlns:m="http://schemas.openxmlformats.org/officeDocument/2006/math">
                    <m:r>
                      <a:rPr lang="fr-FR" sz="1900" i="1"/>
                      <m:t>𝑛</m:t>
                    </m:r>
                  </m:oMath>
                </a14:m>
                <a:r>
                  <a:rPr lang="fr-FR" sz="1900" dirty="0"/>
                  <a:t>, l'urne contient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900"/>
                        </m:ctrlPr>
                      </m:sSubPr>
                      <m:e>
                        <m:r>
                          <a:rPr lang="fr-FR" sz="1900" i="1"/>
                          <m:t>𝐵</m:t>
                        </m:r>
                      </m:e>
                      <m:sub>
                        <m:r>
                          <a:rPr lang="fr-FR" sz="1900" i="1"/>
                          <m:t>𝑛</m:t>
                        </m:r>
                      </m:sub>
                    </m:sSub>
                  </m:oMath>
                </a14:m>
                <a:r>
                  <a:rPr lang="fr-FR" sz="1900" dirty="0"/>
                  <a:t>boules noires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900"/>
                        </m:ctrlPr>
                      </m:sSubPr>
                      <m:e>
                        <m:r>
                          <a:rPr lang="fr-FR" sz="1900" i="1"/>
                          <m:t>𝑊</m:t>
                        </m:r>
                      </m:e>
                      <m:sub>
                        <m:r>
                          <a:rPr lang="fr-FR" sz="1900" i="1"/>
                          <m:t>𝑛</m:t>
                        </m:r>
                      </m:sub>
                    </m:sSub>
                  </m:oMath>
                </a14:m>
                <a:r>
                  <a:rPr lang="fr-FR" sz="1900" dirty="0"/>
                  <a:t>boules blanches.</a:t>
                </a:r>
              </a:p>
              <a:p>
                <a:pPr>
                  <a:spcAft>
                    <a:spcPts val="600"/>
                  </a:spcAft>
                  <a:defRPr sz="1900">
                    <a:solidFill>
                      <a:srgbClr val="232D37"/>
                    </a:solidFill>
                    <a:latin typeface="Aptos"/>
                  </a:defRPr>
                </a:pPr>
                <a:r>
                  <a:rPr lang="fr-FR" dirty="0">
                    <a:latin typeface="Aptos"/>
                  </a:rPr>
                  <a:t>A chaque tirage, la composition change</a:t>
                </a:r>
              </a:p>
              <a:p>
                <a:pPr>
                  <a:spcAft>
                    <a:spcPts val="600"/>
                  </a:spcAft>
                  <a:defRPr sz="1900">
                    <a:solidFill>
                      <a:srgbClr val="232D37"/>
                    </a:solidFill>
                    <a:latin typeface="Aptos"/>
                  </a:defRPr>
                </a:pPr>
                <a:r>
                  <a:rPr lang="fr-FR" sz="1900" dirty="0"/>
                  <a:t>La probabilité du prochain tirage dépend uniquement de l’état actuel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 sz="1900"/>
                        </m:ctrlPr>
                      </m:dPr>
                      <m:e>
                        <m:sSub>
                          <m:sSubPr>
                            <m:ctrlPr>
                              <a:rPr lang="ar-AE" sz="1900" i="1"/>
                            </m:ctrlPr>
                          </m:sSubPr>
                          <m:e>
                            <m:r>
                              <a:rPr lang="ar-AE" sz="1900" i="1"/>
                              <m:t>𝐵</m:t>
                            </m:r>
                          </m:e>
                          <m:sub>
                            <m:r>
                              <a:rPr lang="ar-AE" sz="1900" i="1"/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ar-AE" sz="1900" i="1"/>
                            </m:ctrlPr>
                          </m:sSubPr>
                          <m:e>
                            <m:r>
                              <a:rPr lang="ar-AE" sz="1900" i="1"/>
                              <m:t>𝑊</m:t>
                            </m:r>
                          </m:e>
                          <m:sub>
                            <m:r>
                              <a:rPr lang="ar-AE" sz="1900" i="1"/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sz="1900" dirty="0"/>
              </a:p>
              <a:p>
                <a:pPr>
                  <a:spcAft>
                    <a:spcPts val="600"/>
                  </a:spcAft>
                  <a:defRPr sz="1900">
                    <a:solidFill>
                      <a:srgbClr val="232D37"/>
                    </a:solidFill>
                    <a:latin typeface="Aptos"/>
                  </a:defRPr>
                </a:pPr>
                <a:r>
                  <a:rPr lang="fr-FR" sz="1900" dirty="0"/>
                  <a:t>Le mécanisme de renforcement peut amplifier un avantage initial.</a:t>
                </a:r>
                <a:endParaRPr dirty="0">
                  <a:latin typeface="Aptos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1965960"/>
                <a:ext cx="4572000" cy="2369880"/>
              </a:xfrm>
              <a:prstGeom prst="rect">
                <a:avLst/>
              </a:prstGeom>
              <a:blipFill>
                <a:blip r:embed="rId3"/>
                <a:stretch>
                  <a:fillRect l="-1200" t="-1289" b="-33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ounded Rectangle 11"/>
          <p:cNvSpPr/>
          <p:nvPr/>
        </p:nvSpPr>
        <p:spPr>
          <a:xfrm>
            <a:off x="6309360" y="1508760"/>
            <a:ext cx="5074920" cy="411480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tx1"/>
                </a:solidFill>
              </a:rPr>
              <a:t>P(A)&gt;0 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636776"/>
            <a:ext cx="4745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Question du 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1965960"/>
            <a:ext cx="44805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Domination permanente : </a:t>
            </a:r>
            <a:r>
              <a:rPr sz="2000" i="0" dirty="0">
                <a:solidFill>
                  <a:srgbClr val="232D37"/>
                </a:solidFill>
                <a:latin typeface="Aptos"/>
              </a:rPr>
              <a:t>Si </a:t>
            </a:r>
            <a:r>
              <a:rPr sz="2000" i="0" dirty="0" err="1">
                <a:solidFill>
                  <a:srgbClr val="232D37"/>
                </a:solidFill>
                <a:latin typeface="Aptos"/>
              </a:rPr>
              <a:t>une</a:t>
            </a:r>
            <a:r>
              <a:rPr sz="2000" i="0" dirty="0">
                <a:solidFill>
                  <a:srgbClr val="232D37"/>
                </a:solidFill>
                <a:latin typeface="Aptos"/>
              </a:rPr>
              <a:t> couleur commence </a:t>
            </a:r>
            <a:r>
              <a:rPr sz="2000" i="0" dirty="0" err="1">
                <a:solidFill>
                  <a:srgbClr val="232D37"/>
                </a:solidFill>
                <a:latin typeface="Aptos"/>
              </a:rPr>
              <a:t>devant</a:t>
            </a:r>
            <a:r>
              <a:rPr sz="2000" i="0" dirty="0">
                <a:solidFill>
                  <a:srgbClr val="232D37"/>
                </a:solidFill>
                <a:latin typeface="Aptos"/>
              </a:rPr>
              <a:t>, </a:t>
            </a:r>
            <a:r>
              <a:rPr sz="2000" i="0" dirty="0" err="1">
                <a:solidFill>
                  <a:srgbClr val="232D37"/>
                </a:solidFill>
                <a:latin typeface="Aptos"/>
              </a:rPr>
              <a:t>peut-elle</a:t>
            </a:r>
            <a:r>
              <a:rPr sz="2000" i="0" dirty="0">
                <a:solidFill>
                  <a:srgbClr val="232D37"/>
                </a:solidFill>
                <a:latin typeface="Aptos"/>
              </a:rPr>
              <a:t> </a:t>
            </a:r>
            <a:r>
              <a:rPr sz="2000" i="0" dirty="0" err="1">
                <a:solidFill>
                  <a:srgbClr val="232D37"/>
                </a:solidFill>
                <a:latin typeface="Aptos"/>
              </a:rPr>
              <a:t>rester</a:t>
            </a:r>
            <a:r>
              <a:rPr sz="2000" i="0" dirty="0">
                <a:solidFill>
                  <a:srgbClr val="232D37"/>
                </a:solidFill>
                <a:latin typeface="Aptos"/>
              </a:rPr>
              <a:t> </a:t>
            </a:r>
            <a:r>
              <a:rPr sz="2000" i="0" dirty="0" err="1">
                <a:solidFill>
                  <a:srgbClr val="232D37"/>
                </a:solidFill>
                <a:latin typeface="Aptos"/>
              </a:rPr>
              <a:t>devant</a:t>
            </a:r>
            <a:r>
              <a:rPr sz="2000" i="0" dirty="0">
                <a:solidFill>
                  <a:srgbClr val="232D37"/>
                </a:solidFill>
                <a:latin typeface="Aptos"/>
              </a:rPr>
              <a:t> à </a:t>
            </a:r>
            <a:r>
              <a:rPr sz="2000" i="0" dirty="0" err="1">
                <a:solidFill>
                  <a:srgbClr val="232D37"/>
                </a:solidFill>
                <a:latin typeface="Aptos"/>
              </a:rPr>
              <a:t>tous</a:t>
            </a:r>
            <a:r>
              <a:rPr sz="2000" i="0" dirty="0">
                <a:solidFill>
                  <a:srgbClr val="232D37"/>
                </a:solidFill>
                <a:latin typeface="Aptos"/>
              </a:rPr>
              <a:t> les instants ?</a:t>
            </a:r>
          </a:p>
        </p:txBody>
      </p:sp>
      <p:pic>
        <p:nvPicPr>
          <p:cNvPr id="15" name="Picture 14" descr="formula_ev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926080"/>
            <a:ext cx="4297680" cy="5482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9400" y="4757528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5F6973"/>
                </a:solidFill>
                <a:latin typeface="Aptos"/>
              </a:rPr>
              <a:t>La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difficulté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 :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ce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n’est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 pas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seulement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une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 domination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asymptotique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,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mais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une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contrainte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 sur toute la </a:t>
            </a:r>
            <a:r>
              <a:rPr sz="1600" b="0" i="0" dirty="0" err="1">
                <a:solidFill>
                  <a:srgbClr val="5F6973"/>
                </a:solidFill>
                <a:latin typeface="Aptos"/>
              </a:rPr>
              <a:t>trajectoire</a:t>
            </a:r>
            <a:r>
              <a:rPr sz="1600" b="0" i="0" dirty="0">
                <a:solidFill>
                  <a:srgbClr val="5F6973"/>
                </a:solidFill>
                <a:latin typeface="Aptos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2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E4A1CFD-2A61-8AFB-9053-B09922C1069A}"/>
              </a:ext>
            </a:extLst>
          </p:cNvPr>
          <p:cNvSpPr txBox="1"/>
          <p:nvPr/>
        </p:nvSpPr>
        <p:spPr>
          <a:xfrm>
            <a:off x="753869" y="5763368"/>
            <a:ext cx="107558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b="1" dirty="0"/>
              <a:t>La domination permanente </a:t>
            </a:r>
            <a:r>
              <a:rPr lang="fr-FR" sz="2000" dirty="0"/>
              <a:t>est une propriété beaucoup plus forte qu'une </a:t>
            </a:r>
            <a:r>
              <a:rPr lang="fr-FR" sz="2000" b="1" dirty="0"/>
              <a:t>domination asymptotique</a:t>
            </a:r>
            <a:r>
              <a:rPr lang="fr-FR" sz="2000" dirty="0"/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BC4E19CB-1C1A-AE6B-E59E-0E3EF030BF31}"/>
                  </a:ext>
                </a:extLst>
              </p:cNvPr>
              <p:cNvSpPr txBox="1"/>
              <p:nvPr/>
            </p:nvSpPr>
            <p:spPr>
              <a:xfrm>
                <a:off x="6606540" y="3929323"/>
                <a:ext cx="44805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dirty="0"/>
                  <a:t>Existe-t-il une probabilité strictement positive de conserver l'avance pour tout </a:t>
                </a:r>
                <a14:m>
                  <m:oMath xmlns:m="http://schemas.openxmlformats.org/officeDocument/2006/math">
                    <m:r>
                      <a:rPr lang="fr-FR" i="1"/>
                      <m:t>𝑛</m:t>
                    </m:r>
                  </m:oMath>
                </a14:m>
                <a:r>
                  <a:rPr lang="fr-FR" dirty="0"/>
                  <a:t>?</a:t>
                </a:r>
              </a:p>
            </p:txBody>
          </p:sp>
        </mc:Choice>
        <mc:Fallback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BC4E19CB-1C1A-AE6B-E59E-0E3EF030BF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6540" y="3929323"/>
                <a:ext cx="4480560" cy="646331"/>
              </a:xfrm>
              <a:prstGeom prst="rect">
                <a:avLst/>
              </a:prstGeom>
              <a:blipFill>
                <a:blip r:embed="rId5"/>
                <a:stretch>
                  <a:fillRect l="-1224" t="-5660" r="-816" b="-14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Modèle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Modèle discret : urne de Pólya généralisée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Deux couleurs, renforcement diagonal</a:t>
            </a:r>
          </a:p>
        </p:txBody>
      </p:sp>
      <p:pic>
        <p:nvPicPr>
          <p:cNvPr id="9" name="Picture 8" descr="formula_pr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63040"/>
            <a:ext cx="5212080" cy="6283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2514600"/>
            <a:ext cx="5212080" cy="26974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97180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32D37"/>
                </a:solidFill>
                <a:latin typeface="Aptos"/>
              </a:rPr>
              <a:t>Après un tirage 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566160"/>
            <a:ext cx="44805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400800" y="1508760"/>
            <a:ext cx="4800600" cy="370332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1636776"/>
            <a:ext cx="4471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Objets suivis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6720840" y="1965960"/>
                <a:ext cx="416052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dirty="0">
                    <a:latin typeface="Aptos"/>
                  </a:rPr>
                  <a:t>Bₙ : </a:t>
                </a:r>
                <a:r>
                  <a:rPr dirty="0" err="1">
                    <a:latin typeface="Aptos"/>
                  </a:rPr>
                  <a:t>nombre</a:t>
                </a:r>
                <a:r>
                  <a:rPr dirty="0">
                    <a:latin typeface="Aptos"/>
                  </a:rPr>
                  <a:t> de boules noires après n tirages</a:t>
                </a:r>
              </a:p>
              <a:p>
                <a:r>
                  <a:rPr dirty="0">
                    <a:latin typeface="Aptos"/>
                  </a:rPr>
                  <a:t>Wₙ : </a:t>
                </a:r>
                <a:r>
                  <a:rPr dirty="0" err="1">
                    <a:latin typeface="Aptos"/>
                  </a:rPr>
                  <a:t>nombre</a:t>
                </a:r>
                <a:r>
                  <a:rPr dirty="0">
                    <a:latin typeface="Aptos"/>
                  </a:rPr>
                  <a:t> de boules blanches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/>
                        </m:ctrlPr>
                      </m:sSubPr>
                      <m:e>
                        <m:r>
                          <a:rPr lang="fr-FR" i="1"/>
                          <m:t>𝑚</m:t>
                        </m:r>
                      </m:e>
                      <m:sub>
                        <m:r>
                          <a:rPr lang="fr-FR" i="1"/>
                          <m:t>𝑏</m:t>
                        </m:r>
                      </m:sub>
                    </m:sSub>
                  </m:oMath>
                </a14:m>
                <a:r>
                  <a:rPr dirty="0">
                    <a:latin typeface="Aptos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/>
                        </m:ctrlPr>
                      </m:sSubPr>
                      <m:e>
                        <m:r>
                          <a:rPr lang="fr-FR" i="1"/>
                          <m:t>𝑚</m:t>
                        </m:r>
                      </m:e>
                      <m:sub>
                        <m:r>
                          <a:rPr lang="fr-FR" i="1"/>
                          <m:t>𝑤</m:t>
                        </m:r>
                      </m:sub>
                    </m:sSub>
                  </m:oMath>
                </a14:m>
                <a:r>
                  <a:rPr dirty="0">
                    <a:latin typeface="Aptos"/>
                  </a:rPr>
                  <a:t>: </a:t>
                </a:r>
                <a:r>
                  <a:rPr dirty="0" err="1">
                    <a:latin typeface="Aptos"/>
                  </a:rPr>
                  <a:t>paramètres</a:t>
                </a:r>
                <a:r>
                  <a:rPr dirty="0">
                    <a:latin typeface="Aptos"/>
                  </a:rPr>
                  <a:t> de </a:t>
                </a:r>
                <a:r>
                  <a:rPr dirty="0" err="1">
                    <a:latin typeface="Aptos"/>
                  </a:rPr>
                  <a:t>renforcement</a:t>
                </a:r>
                <a:endParaRPr lang="es-ES" dirty="0">
                  <a:latin typeface="Aptos"/>
                </a:endParaRPr>
              </a:p>
              <a:p>
                <a:endParaRPr lang="es-ES" dirty="0">
                  <a:latin typeface="Aptos"/>
                </a:endParaRPr>
              </a:p>
              <a:p>
                <a:endParaRPr lang="fr-FR" dirty="0">
                  <a:latin typeface="Aptos"/>
                </a:endParaRPr>
              </a:p>
              <a:p>
                <a:endParaRPr dirty="0">
                  <a:latin typeface="Aptos"/>
                </a:endParaRPr>
              </a:p>
              <a:p>
                <a:r>
                  <a:rPr lang="fr-FR" b="1" dirty="0"/>
                  <a:t>Le processus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fr-FR"/>
                        </m:ctrlPr>
                      </m:dPr>
                      <m:e>
                        <m:sSub>
                          <m:sSubPr>
                            <m:ctrlPr>
                              <a:rPr lang="fr-FR" i="1"/>
                            </m:ctrlPr>
                          </m:sSubPr>
                          <m:e>
                            <m:r>
                              <a:rPr lang="fr-FR" i="1"/>
                              <m:t>𝐵</m:t>
                            </m:r>
                          </m:e>
                          <m:sub>
                            <m:r>
                              <a:rPr lang="fr-FR" i="1"/>
                              <m:t>𝑛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fr-FR" i="1"/>
                            </m:ctrlPr>
                          </m:sSubPr>
                          <m:e>
                            <m:r>
                              <a:rPr lang="fr-FR" i="1"/>
                              <m:t>𝑊</m:t>
                            </m:r>
                          </m:e>
                          <m:sub>
                            <m:r>
                              <a:rPr lang="fr-FR" i="1"/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fr-FR" b="1" dirty="0"/>
                  <a:t>est markovien.</a:t>
                </a:r>
                <a:br>
                  <a:rPr lang="fr-FR" dirty="0"/>
                </a:br>
                <a:r>
                  <a:rPr lang="fr-FR" dirty="0"/>
                  <a:t>Les probabilités de tirage dépendent de la composition actuelle de l'urne.</a:t>
                </a:r>
                <a:endParaRPr dirty="0">
                  <a:latin typeface="Aptos"/>
                </a:endParaRPr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0840" y="1965960"/>
                <a:ext cx="4160520" cy="2862322"/>
              </a:xfrm>
              <a:prstGeom prst="rect">
                <a:avLst/>
              </a:prstGeom>
              <a:blipFill>
                <a:blip r:embed="rId4"/>
                <a:stretch>
                  <a:fillRect l="-1320" t="-1706" r="-733" b="-234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3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A727C0CC-4390-6A0A-AD5A-D5FC79DBA5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158" y="3321894"/>
            <a:ext cx="5416182" cy="116761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Modèle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Domination permanente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Une propriété plus forte qu’un avantage final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51760"/>
            <a:ext cx="5212080" cy="242316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55080" y="2651760"/>
            <a:ext cx="5029200" cy="242316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27797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232D37"/>
                </a:solidFill>
                <a:latin typeface="Aptos"/>
              </a:rPr>
              <a:t>Horizon </a:t>
            </a:r>
            <a:r>
              <a:rPr sz="1300" b="1" i="0" dirty="0" err="1">
                <a:solidFill>
                  <a:srgbClr val="232D37"/>
                </a:solidFill>
                <a:latin typeface="Aptos"/>
              </a:rPr>
              <a:t>fini</a:t>
            </a:r>
            <a:endParaRPr sz="1300" b="1" i="0" dirty="0">
              <a:solidFill>
                <a:srgbClr val="232D37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4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8DB13CC-4512-438B-FDF2-0DA02ADFF9CE}"/>
              </a:ext>
            </a:extLst>
          </p:cNvPr>
          <p:cNvSpPr txBox="1"/>
          <p:nvPr/>
        </p:nvSpPr>
        <p:spPr>
          <a:xfrm>
            <a:off x="1577077" y="1794563"/>
            <a:ext cx="92752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Une seule traversée de la diagonale détruit la domination permanente.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DAEF681B-CB15-5233-4E57-7C7DBF5092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961"/>
          <a:stretch>
            <a:fillRect/>
          </a:stretch>
        </p:blipFill>
        <p:spPr>
          <a:xfrm>
            <a:off x="1159192" y="3180642"/>
            <a:ext cx="4448175" cy="1552025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D1C8DDCA-7DD8-ABA4-5606-F3A09553B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180642"/>
            <a:ext cx="4724400" cy="1466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Résultat principal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Théorème de Janson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5F6973"/>
                </a:solidFill>
                <a:latin typeface="Aptos"/>
              </a:rPr>
              <a:t>Le </a:t>
            </a:r>
            <a:r>
              <a:rPr sz="1400" b="0" i="0" dirty="0" err="1">
                <a:solidFill>
                  <a:srgbClr val="5F6973"/>
                </a:solidFill>
                <a:latin typeface="Aptos"/>
              </a:rPr>
              <a:t>vainqueur</a:t>
            </a:r>
            <a:r>
              <a:rPr sz="1400" b="0" i="0" dirty="0">
                <a:solidFill>
                  <a:srgbClr val="5F6973"/>
                </a:solidFill>
                <a:latin typeface="Aptos"/>
              </a:rPr>
              <a:t> </a:t>
            </a:r>
            <a:r>
              <a:rPr sz="1400" b="0" i="0" dirty="0" err="1">
                <a:solidFill>
                  <a:srgbClr val="5F6973"/>
                </a:solidFill>
                <a:latin typeface="Aptos"/>
              </a:rPr>
              <a:t>peut</a:t>
            </a:r>
            <a:r>
              <a:rPr sz="1400" b="0" i="0" dirty="0">
                <a:solidFill>
                  <a:srgbClr val="5F6973"/>
                </a:solidFill>
                <a:latin typeface="Aptos"/>
              </a:rPr>
              <a:t> </a:t>
            </a:r>
            <a:r>
              <a:rPr sz="1400" b="0" i="0" dirty="0" err="1">
                <a:solidFill>
                  <a:srgbClr val="5F6973"/>
                </a:solidFill>
                <a:latin typeface="Aptos"/>
              </a:rPr>
              <a:t>mener</a:t>
            </a:r>
            <a:r>
              <a:rPr sz="1400" b="0" i="0" dirty="0">
                <a:solidFill>
                  <a:srgbClr val="5F6973"/>
                </a:solidFill>
                <a:latin typeface="Aptos"/>
              </a:rPr>
              <a:t> tout le temps</a:t>
            </a:r>
            <a:r>
              <a:rPr lang="es-ES" sz="1400" b="0" i="0" dirty="0">
                <a:solidFill>
                  <a:srgbClr val="5F6973"/>
                </a:solidFill>
                <a:latin typeface="Aptos"/>
              </a:rPr>
              <a:t> - </a:t>
            </a:r>
            <a:r>
              <a:rPr lang="fr-FR" sz="1400" dirty="0"/>
              <a:t>Condition suffisante de domination permanente</a:t>
            </a:r>
          </a:p>
          <a:p>
            <a:pPr algn="l"/>
            <a:endParaRPr sz="1400" b="0" i="0" dirty="0">
              <a:solidFill>
                <a:srgbClr val="5F6973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10607040" cy="278892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1545336"/>
            <a:ext cx="10277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Énoncé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302726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 dirty="0">
                <a:solidFill>
                  <a:srgbClr val="232D37"/>
                </a:solidFill>
                <a:latin typeface="Aptos"/>
              </a:rPr>
              <a:t>Si le noir commence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strictement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devant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et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possède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un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renforcement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au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moins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aussi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fort,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alors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la domination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permanente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a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une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probabilité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</a:t>
            </a:r>
            <a:r>
              <a:rPr sz="1800" b="0" i="0" dirty="0" err="1">
                <a:solidFill>
                  <a:srgbClr val="232D37"/>
                </a:solidFill>
                <a:latin typeface="Aptos"/>
              </a:rPr>
              <a:t>strictement</a:t>
            </a:r>
            <a:r>
              <a:rPr sz="1800" b="0" i="0" dirty="0">
                <a:solidFill>
                  <a:srgbClr val="232D37"/>
                </a:solidFill>
                <a:latin typeface="Aptos"/>
              </a:rPr>
              <a:t> positive.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72000"/>
            <a:ext cx="10607040" cy="96012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41832" y="4700016"/>
            <a:ext cx="10277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Point conceptuel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1051560" y="4892040"/>
                <a:ext cx="100584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dirty="0"/>
                  <a:t>Le résultat est qualitatif : il garantit </a:t>
                </a:r>
                <a14:m>
                  <m:oMath xmlns:m="http://schemas.openxmlformats.org/officeDocument/2006/math">
                    <m:r>
                      <a:rPr lang="fr-FR" i="1"/>
                      <m:t>𝑃</m:t>
                    </m:r>
                    <m:d>
                      <m:dPr>
                        <m:ctrlPr>
                          <a:rPr lang="fr-FR" i="1"/>
                        </m:ctrlPr>
                      </m:dPr>
                      <m:e>
                        <m:r>
                          <a:rPr lang="fr-FR" i="1"/>
                          <m:t>𝐴</m:t>
                        </m:r>
                      </m:e>
                    </m:d>
                    <m:r>
                      <a:rPr lang="fr-FR"/>
                      <m:t>&gt;</m:t>
                    </m:r>
                    <m:r>
                      <a:rPr lang="fr-FR"/>
                      <m:t>0</m:t>
                    </m:r>
                  </m:oMath>
                </a14:m>
                <a:r>
                  <a:rPr lang="fr-FR" dirty="0"/>
                  <a:t>, sans donner une valeur fermée de cette probabilité</a:t>
                </a:r>
                <a:endParaRPr dirty="0">
                  <a:latin typeface="Aptos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4892040"/>
                <a:ext cx="10058400" cy="369332"/>
              </a:xfrm>
              <a:prstGeom prst="rect">
                <a:avLst/>
              </a:prstGeom>
              <a:blipFill>
                <a:blip r:embed="rId3"/>
                <a:stretch>
                  <a:fillRect l="-545" t="-10000" b="-25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5</a:t>
            </a: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3E0DE45B-2C78-98B3-DBA5-3EA38A1B6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528" y="1416936"/>
            <a:ext cx="5606143" cy="20349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Résultat principal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Pourquoi le résultat est non trivial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Le danger vient des premières fluctuations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17320"/>
            <a:ext cx="3520440" cy="416052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1545336"/>
            <a:ext cx="31912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1. Avantage 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0574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b₀ − w₀ éloigne l’état initial de la diagonale.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417320"/>
            <a:ext cx="3520440" cy="416052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545336"/>
            <a:ext cx="31912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2. Renforcement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057400"/>
            <a:ext cx="2971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m_b − m_w contrôle l’avantage structurel de croissance.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17320"/>
            <a:ext cx="3520440" cy="416052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19871" y="1545336"/>
            <a:ext cx="31912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3. Ordre des tirages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57400"/>
            <a:ext cx="29718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32D37"/>
                </a:solidFill>
                <a:latin typeface="Aptos"/>
              </a:rPr>
              <a:t>Des tirages blancs précoces peuvent annuler l’avance avant que l’asymptotique domine.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806440"/>
            <a:ext cx="10149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97D6"/>
                </a:solidFill>
                <a:latin typeface="Aptos"/>
              </a:rPr>
              <a:t>La preuve doit donc relier une information asymptotique à une contrainte valable dès le temps 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Preuve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Plongement en temps continu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Transformer l’urne discrète en chaîne de saut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5257800" cy="42976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1545336"/>
            <a:ext cx="49286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Construction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709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chaque boule reçoit une horloge exponentielle indépendante</a:t>
            </a:r>
          </a:p>
          <a:p>
            <a:r>
              <a:rPr>
                <a:latin typeface="Aptos"/>
              </a:rPr>
              <a:t>quand l’horloge sonne, la boule est remplacée par m_i + 1 boules de même couleur</a:t>
            </a:r>
          </a:p>
          <a:p>
            <a:r>
              <a:rPr>
                <a:latin typeface="Aptos"/>
              </a:rPr>
              <a:t>la chaîne observée aux temps de saut a la même loi que l’urne discrète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417320"/>
            <a:ext cx="4983480" cy="42976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65392" y="1545336"/>
            <a:ext cx="46542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Gain mathématique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1874519"/>
            <a:ext cx="43891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le noir et le blanc deviennent deux processus de branchement indépendants en temps continu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on peut utiliser des résultats de croissance exponentielle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le discret est récupéré par la chaîne de saut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Preuve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Processus de branchement : intuition asymptotique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Comparer deux croissances exponentielles aléatoires</a:t>
            </a:r>
          </a:p>
        </p:txBody>
      </p:sp>
      <p:pic>
        <p:nvPicPr>
          <p:cNvPr id="9" name="Picture 8" descr="formula_asy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508760"/>
            <a:ext cx="9509760" cy="1032855"/>
          </a:xfrm>
          <a:prstGeom prst="rect">
            <a:avLst/>
          </a:prstGeom>
        </p:spPr>
      </p:pic>
      <p:pic>
        <p:nvPicPr>
          <p:cNvPr id="10" name="Picture 9" descr="formula_rat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743200"/>
            <a:ext cx="9235440" cy="10401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4251960"/>
            <a:ext cx="10378440" cy="13258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4379976"/>
            <a:ext cx="100492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Lecture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17720"/>
            <a:ext cx="97383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Si m_b &gt; m_w, le facteur exponentiel e^{−(m_b−m_w)t} force le rapport blanc/noir vers 0 sur l’événement asymptotique favorable.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Preuve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De la domination éventuelle à la domination permanente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Le rôle de l’argument de préfixe fini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3291840" cy="288036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1728216"/>
            <a:ext cx="2962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Queue favorable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232D37"/>
                </a:solidFill>
                <a:latin typeface="Aptos"/>
              </a:rPr>
              <a:t>À long terme, le noir domine grâce à la comparaison asymptotique.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291840" cy="288036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16552" y="1728216"/>
            <a:ext cx="2962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État favorable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402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On choisit un temps fini N et un état atteignable où la suite reste favorable.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1600200"/>
            <a:ext cx="3291840" cy="288036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91271" y="1728216"/>
            <a:ext cx="29626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Préfixe favorable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2402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On réordonne les premiers tirages pour atteindre cet état sans traverser B = W.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749039" y="2761488"/>
            <a:ext cx="411480" cy="347472"/>
          </a:xfrm>
          <a:prstGeom prst="rightArrow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>
            <a:off x="7223760" y="2761488"/>
            <a:ext cx="411480" cy="347472"/>
          </a:xfrm>
          <a:prstGeom prst="rightArrow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280160" y="4892040"/>
            <a:ext cx="9692640" cy="77724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44751" y="5020055"/>
            <a:ext cx="9363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Conclusion logique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120640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97D6"/>
                </a:solidFill>
                <a:latin typeface="Aptos"/>
              </a:rPr>
              <a:t>domination permanente = bon début ∩ domination durable ensuite, avec probabilité positive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Computationnel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Implémentation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Séparer simulation, analyse et visualisation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5029200" cy="42976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15453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Structure du projet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74519"/>
            <a:ext cx="4526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32D37"/>
                </a:solidFill>
                <a:latin typeface="Aptos"/>
              </a:rPr>
              <a:t>TER_Polya/
├── notebooks/
│   ├── 01_basic_simulations.ipynb
│   ├── 02_permanent_domination.ipynb
│   ├── 03_parameter_sensitivity.ipynb
│   ├── 04_extension_time_to_domination.ipynb
│   └── 05_statistical_validation.ipynb
└── src/urn.py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17320"/>
            <a:ext cx="5212080" cy="42976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36792" y="1545336"/>
            <a:ext cx="4882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Classe centrale : PolyaUrn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74519"/>
            <a:ext cx="4617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simulation des urnes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stockage des trajectoires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détection de domination sur horizon fini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calcul de temps de stabilisation empirique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répétition Monte Carlo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Simulations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Simulations : trajectoires individuelles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Visualiser la dynamique du renforcement</a:t>
            </a:r>
          </a:p>
        </p:txBody>
      </p:sp>
      <p:pic>
        <p:nvPicPr>
          <p:cNvPr id="9" name="Picture 8" descr="traj_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234440"/>
            <a:ext cx="5394960" cy="3021178"/>
          </a:xfrm>
          <a:prstGeom prst="rect">
            <a:avLst/>
          </a:prstGeom>
        </p:spPr>
      </p:pic>
      <p:pic>
        <p:nvPicPr>
          <p:cNvPr id="10" name="Picture 9" descr="multi_p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234440"/>
            <a:ext cx="5074920" cy="284195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3492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F6973"/>
                </a:solidFill>
                <a:latin typeface="Aptos"/>
              </a:rPr>
              <a:t>Les trajectoires illustrent l’effet cumulatif : les tirages modifient l’état, puis l’état modifie les probabilités futures.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349240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La ligne 1/2 matérialise la frontière de majorité dans la proportion noire.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Simulations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Monte Carlo : domination jusqu’à un horizon fini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Estimer P(A_T), pas prouver P(A)</a:t>
            </a:r>
          </a:p>
        </p:txBody>
      </p:sp>
      <p:pic>
        <p:nvPicPr>
          <p:cNvPr id="9" name="Picture 8" descr="formula_m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234440"/>
            <a:ext cx="9875520" cy="1112224"/>
          </a:xfrm>
          <a:prstGeom prst="rect">
            <a:avLst/>
          </a:prstGeom>
        </p:spPr>
      </p:pic>
      <p:pic>
        <p:nvPicPr>
          <p:cNvPr id="10" name="Picture 9" descr="monte_carlo_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514600"/>
            <a:ext cx="5303520" cy="296997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46520" y="2606040"/>
            <a:ext cx="4892040" cy="26974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1112" y="2734056"/>
            <a:ext cx="4562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Régime expérimental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063240"/>
            <a:ext cx="4297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(B₀,W₀,m_b,m_w) = (10,5,2,1)</a:t>
            </a:r>
          </a:p>
          <a:p>
            <a:r>
              <a:rPr>
                <a:latin typeface="Aptos"/>
              </a:rPr>
              <a:t>M = 1000 simulations indépendantes</a:t>
            </a:r>
          </a:p>
          <a:p>
            <a:r>
              <a:rPr>
                <a:latin typeface="Aptos"/>
              </a:rPr>
              <a:t>T = 1000 tirages</a:t>
            </a:r>
          </a:p>
          <a:p>
            <a:r>
              <a:rPr>
                <a:latin typeface="Aptos"/>
              </a:rPr>
              <a:t>estimation reportée : p̂_T,M ≈ 0,972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98348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F6973"/>
                </a:solidFill>
                <a:latin typeface="Aptos"/>
              </a:rPr>
              <a:t>Interprétation : régime fortement favorable au noir, cohérent avec le théorème.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Simulations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Sensibilité aux paramètres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Avantage initial et renforcement blanc</a:t>
            </a:r>
          </a:p>
        </p:txBody>
      </p:sp>
      <p:pic>
        <p:nvPicPr>
          <p:cNvPr id="9" name="Picture 8" descr="sensitivity_init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25880"/>
            <a:ext cx="5212080" cy="2918765"/>
          </a:xfrm>
          <a:prstGeom prst="rect">
            <a:avLst/>
          </a:prstGeom>
        </p:spPr>
      </p:pic>
      <p:pic>
        <p:nvPicPr>
          <p:cNvPr id="10" name="Picture 9" descr="sensitivity_m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325880"/>
            <a:ext cx="5212080" cy="291876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5413248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Un écart initial plus grand éloigne la trajectoire de la frontière B = 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5413248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Quand m_w augmente, chaque tirage blanc devient plus dangereux pour la domination noire.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Validation numérique et 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Ce que montrent les simulations, ce qu’elles ne prouvent pas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08760"/>
            <a:ext cx="5120640" cy="416052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7552" y="1636776"/>
            <a:ext cx="47914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Apport des simulations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993392"/>
            <a:ext cx="45720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quantifier des probabilités à horizon fini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observer la sensibilité aux paramètres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repérer le rôle des fluctuations précoces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tester la cohérence théorie / expérience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508760"/>
            <a:ext cx="5074920" cy="416052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1636776"/>
            <a:ext cx="47457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93392"/>
            <a:ext cx="45720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temps fini : A_T ≠ A</a:t>
            </a:r>
          </a:p>
          <a:p>
            <a:r>
              <a:rPr>
                <a:latin typeface="Aptos"/>
              </a:rPr>
              <a:t>nombre fini de trajectoires</a:t>
            </a:r>
          </a:p>
          <a:p>
            <a:r>
              <a:rPr>
                <a:latin typeface="Aptos"/>
              </a:rPr>
              <a:t>incertitude Monte Carlo</a:t>
            </a:r>
          </a:p>
          <a:p>
            <a:r>
              <a:rPr>
                <a:latin typeface="Aptos"/>
              </a:rPr>
              <a:t>la preuve de P(A)&gt;0 reste mathématique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06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97D6"/>
                </a:solidFill>
                <a:latin typeface="Aptos"/>
              </a:rPr>
              <a:t>Message central : la simulation illustre le mécanisme ; le théorème établit l’événement infini.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Synthèse du TER et ouvertures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5532120" cy="42976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41832" y="1545336"/>
            <a:ext cx="5202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Bilan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74519"/>
            <a:ext cx="49834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modèle discret simple mais comportement riche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domination permanente : propriété trajectorielle forte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preuve via plongement en temps continu et processus de branchement</a:t>
            </a:r>
          </a:p>
          <a:p>
            <a:pPr>
              <a:spcAft>
                <a:spcPts val="6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simulations : lecture empirique à horizon fini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1417320"/>
            <a:ext cx="4754880" cy="4297680"/>
          </a:xfrm>
          <a:prstGeom prst="roundRect">
            <a:avLst/>
          </a:prstGeom>
          <a:solidFill>
            <a:srgbClr val="F0F4F7"/>
          </a:solidFill>
          <a:ln>
            <a:solidFill>
              <a:srgbClr val="D2D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93992" y="1545336"/>
            <a:ext cx="44256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32D37"/>
                </a:solidFill>
                <a:latin typeface="Aptos"/>
              </a:rPr>
              <a:t>Perspectives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160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Aptos"/>
              </a:rPr>
              <a:t>plus de deux couleurs</a:t>
            </a:r>
          </a:p>
          <a:p>
            <a:r>
              <a:rPr>
                <a:latin typeface="Aptos"/>
              </a:rPr>
              <a:t>renforcements plus généraux</a:t>
            </a:r>
          </a:p>
          <a:p>
            <a:r>
              <a:rPr>
                <a:latin typeface="Aptos"/>
              </a:rPr>
              <a:t>bornes quantitatives pour P(A)</a:t>
            </a:r>
          </a:p>
          <a:p>
            <a:r>
              <a:rPr>
                <a:latin typeface="Aptos"/>
              </a:rPr>
              <a:t>étude plus fine des temps de stabilisation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8978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97D6"/>
                </a:solidFill>
                <a:latin typeface="Aptos"/>
              </a:rPr>
              <a:t>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7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F6973"/>
                </a:solidFill>
                <a:latin typeface="Aptos"/>
              </a:rPr>
              <a:t>Urnes de Pólya généralisées — domination permanente · Références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446520"/>
            <a:ext cx="12191695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326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7882"/>
                </a:solidFill>
                <a:latin typeface="Aptos"/>
              </a:rPr>
              <a:t>Henri Vasserot — Master Mathématiques EAD AMU — 2025/2026</a:t>
            </a:r>
          </a:p>
        </p:txBody>
      </p:sp>
      <p:pic>
        <p:nvPicPr>
          <p:cNvPr id="6" name="Picture 5" descr="LOGO_A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446520"/>
            <a:ext cx="1417320" cy="4870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179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232D37"/>
                </a:solidFill>
                <a:latin typeface="Aptos"/>
              </a:rPr>
              <a:t>Références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0789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F6973"/>
                </a:solidFill>
                <a:latin typeface="Aptos"/>
              </a:rPr>
              <a:t>Diapositive de réserve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173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S. Janson, A Note on Pólya Urns: The Winner May Lead All the Time, arXiv, 2025.</a:t>
            </a:r>
          </a:p>
          <a:p>
            <a:pPr>
              <a:spcAft>
                <a:spcPts val="600"/>
              </a:spcAft>
              <a:defRPr sz="20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G. Pólya, Sur quelques points de la théorie des probabilités, Annales de l’Institut Henri Poincaré, 1930.</a:t>
            </a:r>
          </a:p>
          <a:p>
            <a:pPr>
              <a:spcAft>
                <a:spcPts val="600"/>
              </a:spcAft>
              <a:defRPr sz="20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K. B. Athreya &amp; P. E. Ney, Branching Processes, Springer, 1972.</a:t>
            </a:r>
          </a:p>
          <a:p>
            <a:pPr>
              <a:spcAft>
                <a:spcPts val="600"/>
              </a:spcAft>
              <a:defRPr sz="2000">
                <a:solidFill>
                  <a:srgbClr val="232D37"/>
                </a:solidFill>
                <a:latin typeface="Aptos"/>
              </a:defRPr>
            </a:pPr>
            <a:r>
              <a:rPr>
                <a:latin typeface="Aptos"/>
              </a:rPr>
              <a:t>Code du TER : notebooks de simulation et src/urn.py, classe PolyaUrn.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48288" y="6510528"/>
            <a:ext cx="411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E7882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1386</Words>
  <Application>Microsoft Office PowerPoint</Application>
  <PresentationFormat>Grand écran</PresentationFormat>
  <Paragraphs>177</Paragraphs>
  <Slides>16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Henri Vasserot</dc:creator>
  <cp:keywords/>
  <dc:description>generated using python-pptx</dc:description>
  <cp:lastModifiedBy>Henri Vasserot</cp:lastModifiedBy>
  <cp:revision>6</cp:revision>
  <dcterms:created xsi:type="dcterms:W3CDTF">2013-01-27T09:14:16Z</dcterms:created>
  <dcterms:modified xsi:type="dcterms:W3CDTF">2026-06-18T22:32:44Z</dcterms:modified>
  <cp:category/>
</cp:coreProperties>
</file>